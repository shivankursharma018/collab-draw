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3" r:id="rId13"/>
  </p:sldIdLst>
  <p:sldSz cx="14630400" cy="8229600"/>
  <p:notesSz cx="8229600" cy="14630400"/>
  <p:embeddedFontLst>
    <p:embeddedFont>
      <p:font typeface="Inconsolata" pitchFamily="1" charset="0"/>
      <p:regular r:id="rId15"/>
    </p:embeddedFont>
    <p:embeddedFont>
      <p:font typeface="Montserrat Black" panose="00000A00000000000000" pitchFamily="2" charset="0"/>
      <p:regular r:id="rId16"/>
      <p:bold r:id="rId17"/>
    </p:embeddedFont>
    <p:embeddedFont>
      <p:font typeface="Montserrat Light" panose="00000400000000000000" pitchFamily="2" charset="0"/>
      <p:regular r:id="rId18"/>
      <p: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080" y="3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1235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D462F-3489-79F9-E76B-09A13D3D2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BFDF17-A879-4BAB-3C13-E130841A7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C79DA-0FA8-158B-E42A-94E90B1DF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CB34A-B07F-D3FE-CCC9-0913509BA8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091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B1707-E034-30D0-9D66-2D28561A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03E6F-AC92-5799-9963-14DA6D71C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FB794-075C-15D7-AB6F-9570FACE8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4A341-0A48-72EE-B1E9-04854BA037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64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jp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jp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89" y="1227475"/>
            <a:ext cx="4769821" cy="47698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9828" y="2468169"/>
            <a:ext cx="7604284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Group Doodle: Real-Time Collaborative Drawing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39828" y="4821321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Web-based collaborative drawing for real-time creative interaction. Join a shared canvas from anywhere, draw simultaneously with teammates, and experience digital whiteboarding like never before.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9972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F8BED4-EE30-1AC4-C3EB-82F53A1E4B5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398" y="7270648"/>
            <a:ext cx="1905002" cy="961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5FE8A3-70E7-DE5D-9AD8-31F5E6935F8C}"/>
              </a:ext>
            </a:extLst>
          </p:cNvPr>
          <p:cNvSpPr txBox="1"/>
          <p:nvPr/>
        </p:nvSpPr>
        <p:spPr>
          <a:xfrm>
            <a:off x="6239828" y="858143"/>
            <a:ext cx="7403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Inconsolata" pitchFamily="1" charset="0"/>
                <a:ea typeface="Inconsolata" pitchFamily="1" charset="0"/>
              </a:rPr>
              <a:t>LIVE PROJECT-IV &amp; INDUSTRIAL VISIT (21CS4115)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6710"/>
            <a:ext cx="80142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Vision &amp; Core Idea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2464"/>
            <a:ext cx="431434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Seamless Collaboration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22457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Real-time drawing collaboration via the internet—making digital whiteboarding as natural as physical interaction.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572464"/>
            <a:ext cx="579703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Addressing Remote Challenges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99521" y="322457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Intuitive, immediately accessible tool requiring nothing more than a web browser to connect distributed teams.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99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Online Classes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489734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Interactive learning environments for students and teachers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125278" y="4999315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Group Brainstorming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25278" y="5844064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Collective creativity and idea generation in virtual meetings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456884" y="4999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Art Collaboration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6884" y="5489734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Artists creating together, breaking geographical barriers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788491" y="4999315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Remote Design Thinking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5844064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Iterative design processes and visual problem-solving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AD8D01-7C14-FF02-26A9-6B5DACE0855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398" y="7270648"/>
            <a:ext cx="1905002" cy="961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670" y="523654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Technology Stack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670" y="1520207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Robust, modern technologies delivering high-performance real-time collaboration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93670" y="2107423"/>
            <a:ext cx="4203978" cy="3152775"/>
          </a:xfrm>
          <a:prstGeom prst="roundRect">
            <a:avLst>
              <a:gd name="adj" fmla="val 29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6674" y="2330427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15161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4434" y="2508069"/>
            <a:ext cx="290870" cy="2908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6674" y="3192202"/>
            <a:ext cx="36460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Next.js &amp; React Frontend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16674" y="3657974"/>
            <a:ext cx="375797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Fast, component-driven interface with server-side rendering for optimal performance and seamless user experience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213032" y="2107423"/>
            <a:ext cx="4203978" cy="3152775"/>
          </a:xfrm>
          <a:prstGeom prst="roundRect">
            <a:avLst>
              <a:gd name="adj" fmla="val 29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36036" y="2330427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15161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3796" y="2508069"/>
            <a:ext cx="290870" cy="29087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36036" y="319220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Node.js Backend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5436036" y="3657974"/>
            <a:ext cx="375797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Efficient WebSocket connection handling enabling real-time, bi-directional communication between all connected clients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9632393" y="2107423"/>
            <a:ext cx="4203978" cy="3152775"/>
          </a:xfrm>
          <a:prstGeom prst="roundRect">
            <a:avLst>
              <a:gd name="adj" fmla="val 29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855398" y="2330427"/>
            <a:ext cx="646390" cy="646390"/>
          </a:xfrm>
          <a:prstGeom prst="roundRect">
            <a:avLst>
              <a:gd name="adj" fmla="val 14144844"/>
            </a:avLst>
          </a:prstGeom>
          <a:solidFill>
            <a:srgbClr val="15161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33158" y="2508069"/>
            <a:ext cx="290870" cy="29087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55398" y="3192202"/>
            <a:ext cx="335137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Socket.io for Real-time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9855398" y="3657974"/>
            <a:ext cx="375797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Instant data exchange ensuring every drawing stroke broadcasts and receives with minimal latency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793670" y="5502610"/>
            <a:ext cx="6413659" cy="1647111"/>
          </a:xfrm>
          <a:prstGeom prst="roundRect">
            <a:avLst>
              <a:gd name="adj" fmla="val 555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1039534" y="5748474"/>
            <a:ext cx="291203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TailwindCSS Styling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1039534" y="6214246"/>
            <a:ext cx="592193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Sleek, responsive, highly customizable design ensuring consistent appeal across all devices</a:t>
            </a:r>
            <a:endParaRPr lang="en-US" sz="1650" dirty="0"/>
          </a:p>
        </p:txBody>
      </p:sp>
      <p:sp>
        <p:nvSpPr>
          <p:cNvPr id="22" name="Shape 17"/>
          <p:cNvSpPr/>
          <p:nvPr/>
        </p:nvSpPr>
        <p:spPr>
          <a:xfrm>
            <a:off x="7422713" y="5502610"/>
            <a:ext cx="6413778" cy="1647111"/>
          </a:xfrm>
          <a:prstGeom prst="roundRect">
            <a:avLst>
              <a:gd name="adj" fmla="val 555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668577" y="574847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Font Optimization</a:t>
            </a:r>
            <a:endParaRPr lang="en-US" sz="2100" dirty="0"/>
          </a:p>
        </p:txBody>
      </p:sp>
      <p:sp>
        <p:nvSpPr>
          <p:cNvPr id="24" name="Text 19"/>
          <p:cNvSpPr/>
          <p:nvPr/>
        </p:nvSpPr>
        <p:spPr>
          <a:xfrm>
            <a:off x="7668577" y="6214246"/>
            <a:ext cx="592205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Enhanced loading speeds and visual consistency through optimized font delivery</a:t>
            </a:r>
            <a:endParaRPr lang="en-US" sz="16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C7D4FAC-D810-06F4-E415-45DCDF14D5FB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398" y="7270648"/>
            <a:ext cx="1905002" cy="961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8309"/>
            <a:ext cx="928651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Architecture: Client-Server Model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702356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Classic client-server architecture optimized for real-time synchronization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574" y="2488168"/>
            <a:ext cx="1020722" cy="15844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65369" y="269224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Frontend Canvas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6765369" y="3215164"/>
            <a:ext cx="7078742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Users interact on drawing canvas—every stroke, erase, or selection transmitted live to server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574" y="4072652"/>
            <a:ext cx="1020722" cy="15844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65369" y="427672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Backend Server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6765369" y="4799648"/>
            <a:ext cx="7078742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Manages communication channels, securely relays drawing events between all connected clients</a:t>
            </a:r>
            <a:endParaRPr lang="en-US" sz="1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0574" y="5657136"/>
            <a:ext cx="1020722" cy="15844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765369" y="5861209"/>
            <a:ext cx="311169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Synchronized Updates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6765369" y="6384131"/>
            <a:ext cx="7078742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Server broadcasts events simultaneously, maintaining consistent shared canvas view across all users</a:t>
            </a:r>
            <a:endParaRPr lang="en-US" sz="1600" dirty="0"/>
          </a:p>
        </p:txBody>
      </p:sp>
      <p:pic>
        <p:nvPicPr>
          <p:cNvPr id="1026" name="Picture 2" descr="What is the Difference Between Thick Client and Thin Client? | IT Junction">
            <a:extLst>
              <a:ext uri="{FF2B5EF4-FFF2-40B4-BE49-F238E27FC236}">
                <a16:creationId xmlns:a16="http://schemas.microsoft.com/office/drawing/2014/main" id="{38B1E02D-F975-E8FF-AED1-8C1170099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98" y="3011090"/>
            <a:ext cx="4635606" cy="3174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5D097C-7B8F-4229-C491-93DBB9862224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398" y="7270648"/>
            <a:ext cx="1905002" cy="961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8211"/>
            <a:ext cx="12575977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Components: Bringing the Canvas to Life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94" y="2015132"/>
            <a:ext cx="4817031" cy="48170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825" y="2055971"/>
            <a:ext cx="857428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Interconnected components working in harmony to deliver smooth, responsive collaborative environment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269825" y="2938939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269825" y="3262908"/>
            <a:ext cx="4185047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7" name="Text 4"/>
          <p:cNvSpPr/>
          <p:nvPr/>
        </p:nvSpPr>
        <p:spPr>
          <a:xfrm>
            <a:off x="5269825" y="3410664"/>
            <a:ext cx="311658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React Drawing Canvas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269825" y="3933587"/>
            <a:ext cx="4185047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Central interaction point enabling drawing with mouse and touch inputs for versatile creative experience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58945" y="2938939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658945" y="3262908"/>
            <a:ext cx="4185166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1" name="Text 8"/>
          <p:cNvSpPr/>
          <p:nvPr/>
        </p:nvSpPr>
        <p:spPr>
          <a:xfrm>
            <a:off x="9658945" y="3410664"/>
            <a:ext cx="290822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WebSocket Handlers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658945" y="3933587"/>
            <a:ext cx="4185166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Real-time event broadcasting managing drawing actions, user connections, and disconnections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69825" y="5270778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69825" y="5594747"/>
            <a:ext cx="8574286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5" name="Text 12"/>
          <p:cNvSpPr/>
          <p:nvPr/>
        </p:nvSpPr>
        <p:spPr>
          <a:xfrm>
            <a:off x="5269825" y="5742503"/>
            <a:ext cx="306074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State Synchronization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269825" y="6265426"/>
            <a:ext cx="857428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Ensures all connected users consistently see the same drawing status, maintaining accuracy and cohesion</a:t>
            </a: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0EB39A9-721B-D2F3-0E5D-15A9C66FFF2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398" y="7270648"/>
            <a:ext cx="1905002" cy="961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47067"/>
            <a:ext cx="10203061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UI/UX Design: Intuitive &amp; Responsive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93790" y="3497223"/>
            <a:ext cx="4211479" cy="2485311"/>
          </a:xfrm>
          <a:prstGeom prst="roundRect">
            <a:avLst>
              <a:gd name="adj" fmla="val 4415"/>
            </a:avLst>
          </a:prstGeom>
          <a:solidFill>
            <a:srgbClr val="F8ECE4"/>
          </a:solidFill>
          <a:ln/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93790" y="3474363"/>
            <a:ext cx="4211479" cy="91440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5" name="Shape 3"/>
          <p:cNvSpPr/>
          <p:nvPr/>
        </p:nvSpPr>
        <p:spPr>
          <a:xfrm>
            <a:off x="2593360" y="3191113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151617"/>
          </a:solidFill>
          <a:ln/>
        </p:spPr>
      </p:sp>
      <p:sp>
        <p:nvSpPr>
          <p:cNvPr id="6" name="Text 4"/>
          <p:cNvSpPr/>
          <p:nvPr/>
        </p:nvSpPr>
        <p:spPr>
          <a:xfrm>
            <a:off x="2777073" y="3344228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20723" y="4007525"/>
            <a:ext cx="292012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Responsive Interface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20723" y="4448770"/>
            <a:ext cx="375761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TailwindCSS creates clean interface seamlessly adapting to various screen sizes—desktops to mobile devices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09342" y="3497223"/>
            <a:ext cx="4211598" cy="2485311"/>
          </a:xfrm>
          <a:prstGeom prst="roundRect">
            <a:avLst>
              <a:gd name="adj" fmla="val 4415"/>
            </a:avLst>
          </a:prstGeom>
          <a:solidFill>
            <a:srgbClr val="F8ECE4"/>
          </a:solidFill>
          <a:ln/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09342" y="3474363"/>
            <a:ext cx="4211598" cy="91440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1" name="Shape 9"/>
          <p:cNvSpPr/>
          <p:nvPr/>
        </p:nvSpPr>
        <p:spPr>
          <a:xfrm>
            <a:off x="7008912" y="3191113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151617"/>
          </a:solidFill>
          <a:ln/>
        </p:spPr>
      </p:sp>
      <p:sp>
        <p:nvSpPr>
          <p:cNvPr id="12" name="Text 10"/>
          <p:cNvSpPr/>
          <p:nvPr/>
        </p:nvSpPr>
        <p:spPr>
          <a:xfrm>
            <a:off x="7192625" y="3344228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436275" y="4007525"/>
            <a:ext cx="367938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Dynamic Canvas &amp; Toolbar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36275" y="4448770"/>
            <a:ext cx="3757732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User-friendly toolbar housing essential drawing tools: pens, erasers, color pickers alongside dynamic canvas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25013" y="3497223"/>
            <a:ext cx="4211598" cy="2485311"/>
          </a:xfrm>
          <a:prstGeom prst="roundRect">
            <a:avLst>
              <a:gd name="adj" fmla="val 4415"/>
            </a:avLst>
          </a:prstGeom>
          <a:solidFill>
            <a:srgbClr val="F8ECE4"/>
          </a:solidFill>
          <a:ln/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25013" y="3474363"/>
            <a:ext cx="4211598" cy="91440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4583" y="3191113"/>
            <a:ext cx="612338" cy="612338"/>
          </a:xfrm>
          <a:prstGeom prst="roundRect">
            <a:avLst>
              <a:gd name="adj" fmla="val 149329"/>
            </a:avLst>
          </a:prstGeom>
          <a:solidFill>
            <a:srgbClr val="151617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8296" y="3344228"/>
            <a:ext cx="244912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851946" y="4007525"/>
            <a:ext cx="316777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Optimized Typography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851946" y="4448770"/>
            <a:ext cx="3757732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Meticulously optimized spacing with Next.js font utilities ensuring excellent readability and aesthetic appeal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9D4EB66-B08E-9B9B-89A3-A4EFAA2C700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398" y="7270648"/>
            <a:ext cx="1905002" cy="961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4148"/>
            <a:ext cx="877228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Real-Time Collaboration in Action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792129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Seamless, low-latency drawing reflecting every stroke instantly across all connected devices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07" y="2901851"/>
            <a:ext cx="6558193" cy="36888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57968" y="2636580"/>
            <a:ext cx="96322" cy="96322"/>
          </a:xfrm>
          <a:prstGeom prst="roundRect">
            <a:avLst>
              <a:gd name="adj" fmla="val 474658"/>
            </a:avLst>
          </a:prstGeom>
          <a:solidFill>
            <a:srgbClr val="151617"/>
          </a:solidFill>
          <a:ln/>
        </p:spPr>
      </p:sp>
      <p:sp>
        <p:nvSpPr>
          <p:cNvPr id="6" name="Text 3"/>
          <p:cNvSpPr/>
          <p:nvPr/>
        </p:nvSpPr>
        <p:spPr>
          <a:xfrm>
            <a:off x="7847052" y="2534126"/>
            <a:ext cx="327005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Instant Action Broadcast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847052" y="3028117"/>
            <a:ext cx="599717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drawing action immediately sent to server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557968" y="3824466"/>
            <a:ext cx="96322" cy="96322"/>
          </a:xfrm>
          <a:prstGeom prst="roundRect">
            <a:avLst>
              <a:gd name="adj" fmla="val 474658"/>
            </a:avLst>
          </a:prstGeom>
          <a:solidFill>
            <a:srgbClr val="151617"/>
          </a:solidFill>
          <a:ln/>
        </p:spPr>
      </p:sp>
      <p:sp>
        <p:nvSpPr>
          <p:cNvPr id="9" name="Text 6"/>
          <p:cNvSpPr/>
          <p:nvPr/>
        </p:nvSpPr>
        <p:spPr>
          <a:xfrm>
            <a:off x="7847052" y="3722013"/>
            <a:ext cx="303156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Global Synchronization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847052" y="4216003"/>
            <a:ext cx="599717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Server efficiently broadcasts actions to all connected users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557968" y="5012353"/>
            <a:ext cx="96322" cy="96322"/>
          </a:xfrm>
          <a:prstGeom prst="roundRect">
            <a:avLst>
              <a:gd name="adj" fmla="val 474658"/>
            </a:avLst>
          </a:prstGeom>
          <a:solidFill>
            <a:srgbClr val="151617"/>
          </a:solidFill>
          <a:ln/>
        </p:spPr>
      </p:sp>
      <p:sp>
        <p:nvSpPr>
          <p:cNvPr id="12" name="Text 9"/>
          <p:cNvSpPr/>
          <p:nvPr/>
        </p:nvSpPr>
        <p:spPr>
          <a:xfrm>
            <a:off x="7847052" y="490989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Minimal Delay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847052" y="5403890"/>
            <a:ext cx="599717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Fluid experience even with multiple users drawing simultaneously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557968" y="6508611"/>
            <a:ext cx="96322" cy="96322"/>
          </a:xfrm>
          <a:prstGeom prst="roundRect">
            <a:avLst>
              <a:gd name="adj" fmla="val 474658"/>
            </a:avLst>
          </a:prstGeom>
          <a:solidFill>
            <a:srgbClr val="151617"/>
          </a:solidFill>
          <a:ln/>
        </p:spPr>
      </p:sp>
      <p:sp>
        <p:nvSpPr>
          <p:cNvPr id="15" name="Text 12"/>
          <p:cNvSpPr/>
          <p:nvPr/>
        </p:nvSpPr>
        <p:spPr>
          <a:xfrm>
            <a:off x="7847052" y="6406158"/>
            <a:ext cx="283237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Stable &amp; Low-Latency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7847052" y="6900148"/>
            <a:ext cx="599717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Handles multiple concurrent connections with robust stability</a:t>
            </a: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6A35F56-7902-F4E0-0196-172F0088B5D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398" y="7270648"/>
            <a:ext cx="1905002" cy="961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2708"/>
            <a:ext cx="635377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User Interface Overview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965" y="1529506"/>
            <a:ext cx="3952399" cy="3285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6171" y="5029259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Home Page</a:t>
            </a: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Create or join a room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769" y="1512034"/>
            <a:ext cx="3988594" cy="33154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50349" y="5059263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Room Page</a:t>
            </a: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Canvas for drawing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793790" y="5676007"/>
            <a:ext cx="6424970" cy="1464826"/>
          </a:xfrm>
          <a:prstGeom prst="roundRect">
            <a:avLst>
              <a:gd name="adj" fmla="val 624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1009412" y="5891629"/>
            <a:ext cx="248066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Responsive Design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009412" y="6308467"/>
            <a:ext cx="5993725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Adapts seamlessly to any screen size and device type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411522" y="5676007"/>
            <a:ext cx="6425089" cy="1464826"/>
          </a:xfrm>
          <a:prstGeom prst="roundRect">
            <a:avLst>
              <a:gd name="adj" fmla="val 624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dist="1778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627144" y="5891629"/>
            <a:ext cx="330327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Simple &amp; Intuitive Layout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7627144" y="6308467"/>
            <a:ext cx="599384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Clean interface prioritizing ease of use and immediate accessibility</a:t>
            </a:r>
            <a:endParaRPr lang="en-US" sz="15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DCBCEA-BB6B-D88D-7537-8D96DC197E89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398" y="7268050"/>
            <a:ext cx="1905002" cy="961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3416"/>
            <a:ext cx="11406783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Addressing Challenges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74633" y="1696696"/>
            <a:ext cx="897219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476" y="2290460"/>
            <a:ext cx="323136" cy="323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4839" y="2283912"/>
            <a:ext cx="387631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Real-time Synchronization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574839" y="2835886"/>
            <a:ext cx="8271986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Achieved near real-time sync without performance drops, even on slower networks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476" y="3962931"/>
            <a:ext cx="323136" cy="323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74839" y="395638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Cross-Device UI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574839" y="4508357"/>
            <a:ext cx="827198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Maintained simple yet effective UI working seamlessly across various devices</a:t>
            </a:r>
            <a:endParaRPr lang="en-US" sz="16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476" y="5290597"/>
            <a:ext cx="323136" cy="3231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74839" y="5284049"/>
            <a:ext cx="347245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Connection Robustness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1574839" y="5836022"/>
            <a:ext cx="8271986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Ensured stability against connection drops, seamlessly managing users joining or leaving</a:t>
            </a:r>
            <a:endParaRPr lang="en-US" sz="16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9693" y="2077342"/>
            <a:ext cx="5190708" cy="51907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84AF02-DBE7-034A-54C2-7BB3C560D29C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398" y="7268050"/>
            <a:ext cx="1905002" cy="961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C0960-C0F8-ED9E-711A-E0D231027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6BF159-1AA6-DF32-5578-99A97E84CDD0}"/>
              </a:ext>
            </a:extLst>
          </p:cNvPr>
          <p:cNvSpPr/>
          <p:nvPr/>
        </p:nvSpPr>
        <p:spPr>
          <a:xfrm>
            <a:off x="1712684" y="788897"/>
            <a:ext cx="10414001" cy="681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151617"/>
                </a:solidFill>
                <a:latin typeface="Montserrat Black" pitchFamily="34" charset="0"/>
              </a:rPr>
              <a:t>Future Enhancements</a:t>
            </a:r>
            <a:endParaRPr lang="en-US" sz="4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8FFBE6-D4EE-B869-ED3F-97C77797F0A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398" y="7268050"/>
            <a:ext cx="1905002" cy="96155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3705456-A266-0435-46E4-6CA387A6C453}"/>
              </a:ext>
            </a:extLst>
          </p:cNvPr>
          <p:cNvSpPr txBox="1"/>
          <p:nvPr/>
        </p:nvSpPr>
        <p:spPr>
          <a:xfrm>
            <a:off x="1712685" y="5424762"/>
            <a:ext cx="110127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>
                <a:latin typeface="Inconsolata" pitchFamily="1" charset="0"/>
                <a:ea typeface="Inconsolata" pitchFamily="1" charset="0"/>
              </a:rPr>
              <a:t>Adding different stroke sizes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Inconsolata" pitchFamily="1" charset="0"/>
                <a:ea typeface="Inconsolata" pitchFamily="1" charset="0"/>
              </a:rPr>
              <a:t>Adding more colors, current default = black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Inconsolata" pitchFamily="1" charset="0"/>
                <a:ea typeface="Inconsolata" pitchFamily="1" charset="0"/>
              </a:rPr>
              <a:t>Enhancing User Experience, opening creative doors</a:t>
            </a:r>
          </a:p>
        </p:txBody>
      </p:sp>
      <p:pic>
        <p:nvPicPr>
          <p:cNvPr id="4" name="Picture 3" descr="A screen shot of a computer program">
            <a:extLst>
              <a:ext uri="{FF2B5EF4-FFF2-40B4-BE49-F238E27FC236}">
                <a16:creationId xmlns:a16="http://schemas.microsoft.com/office/drawing/2014/main" id="{1D1FBF4D-3564-5DD5-DA5A-A1C379806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2684" y="2078426"/>
            <a:ext cx="6820852" cy="3010320"/>
          </a:xfrm>
          <a:prstGeom prst="rect">
            <a:avLst/>
          </a:prstGeom>
        </p:spPr>
      </p:pic>
      <p:pic>
        <p:nvPicPr>
          <p:cNvPr id="6" name="Picture 5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6B36FB68-4288-E33A-EB7C-CDB2D53F3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6828" y="2397558"/>
            <a:ext cx="4067743" cy="2372056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006DD4EC-7707-104D-929A-CA6972CE046F}"/>
              </a:ext>
            </a:extLst>
          </p:cNvPr>
          <p:cNvSpPr/>
          <p:nvPr/>
        </p:nvSpPr>
        <p:spPr>
          <a:xfrm>
            <a:off x="8533536" y="3362429"/>
            <a:ext cx="1383292" cy="44231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06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8D579-F442-98F8-0733-23438F112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604F8A-DB97-D242-1095-1A6F938FFF5D}"/>
              </a:ext>
            </a:extLst>
          </p:cNvPr>
          <p:cNvSpPr/>
          <p:nvPr/>
        </p:nvSpPr>
        <p:spPr>
          <a:xfrm>
            <a:off x="1712684" y="788897"/>
            <a:ext cx="10414001" cy="681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151617"/>
                </a:solidFill>
                <a:latin typeface="Montserrat Black" pitchFamily="34" charset="0"/>
              </a:rPr>
              <a:t>Future Enhancements</a:t>
            </a:r>
            <a:endParaRPr lang="en-US" sz="4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4940932-D729-10B2-42DC-ADC6980D878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398" y="7268050"/>
            <a:ext cx="1905002" cy="96155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B7DD252-BB7F-4F7C-9793-71F764A85D1F}"/>
              </a:ext>
            </a:extLst>
          </p:cNvPr>
          <p:cNvSpPr txBox="1"/>
          <p:nvPr/>
        </p:nvSpPr>
        <p:spPr>
          <a:xfrm>
            <a:off x="1413327" y="2186262"/>
            <a:ext cx="110127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>
                <a:latin typeface="Inconsolata" pitchFamily="1" charset="0"/>
                <a:ea typeface="Inconsolata" pitchFamily="1" charset="0"/>
              </a:rPr>
              <a:t>Concurrency Thresholds (Room Limits) 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Inconsolata" pitchFamily="1" charset="0"/>
                <a:ea typeface="Inconsolata" pitchFamily="1" charset="0"/>
              </a:rPr>
              <a:t>To prevent the "mess" of overcrowding and maintain rendering performance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Inconsolata" pitchFamily="1" charset="0"/>
                <a:ea typeface="Inconsolata" pitchFamily="1" charset="0"/>
              </a:rPr>
              <a:t>A hard limit (e.g., maximum 10 users per room) will be set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Inconsolata" pitchFamily="1" charset="0"/>
                <a:ea typeface="Inconsolata" pitchFamily="1" charset="0"/>
              </a:rPr>
              <a:t>This ensures the canvas remains readable and the experience remains clutter-free</a:t>
            </a:r>
          </a:p>
        </p:txBody>
      </p:sp>
      <p:pic>
        <p:nvPicPr>
          <p:cNvPr id="5" name="Picture 4" descr="A whiteboard with black text&#10;&#10;AI-generated content may be incorrect.">
            <a:extLst>
              <a:ext uri="{FF2B5EF4-FFF2-40B4-BE49-F238E27FC236}">
                <a16:creationId xmlns:a16="http://schemas.microsoft.com/office/drawing/2014/main" id="{E29443AE-D167-CC63-1B25-A84BABB3B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437" y="5150320"/>
            <a:ext cx="4683525" cy="182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494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2684" y="1833182"/>
            <a:ext cx="10414001" cy="1098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THANK YOU</a:t>
            </a:r>
            <a:endParaRPr lang="en-US" sz="4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9FEE0FC-0487-1951-3282-715D0F6DF96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398" y="7268050"/>
            <a:ext cx="1905002" cy="96155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024255C-2FC5-187E-73D5-645FCC037478}"/>
              </a:ext>
            </a:extLst>
          </p:cNvPr>
          <p:cNvSpPr txBox="1"/>
          <p:nvPr/>
        </p:nvSpPr>
        <p:spPr>
          <a:xfrm>
            <a:off x="1712684" y="4833257"/>
            <a:ext cx="110127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Inconsolata" pitchFamily="1" charset="0"/>
                <a:ea typeface="Inconsolata" pitchFamily="1" charset="0"/>
              </a:rPr>
              <a:t>Mayank Arya		11022210015		B.Tech. CSE (DSAI)</a:t>
            </a:r>
          </a:p>
          <a:p>
            <a:r>
              <a:rPr lang="en-US" sz="2800" dirty="0">
                <a:latin typeface="Inconsolata" pitchFamily="1" charset="0"/>
                <a:ea typeface="Inconsolata" pitchFamily="1" charset="0"/>
              </a:rPr>
              <a:t>Shivankur Sharma	11022210033</a:t>
            </a:r>
          </a:p>
          <a:p>
            <a:r>
              <a:rPr lang="en-US" sz="2800" dirty="0">
                <a:latin typeface="Inconsolata" pitchFamily="1" charset="0"/>
                <a:ea typeface="Inconsolata" pitchFamily="1" charset="0"/>
              </a:rPr>
              <a:t>Divyansh Lather		11022210045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655</Words>
  <Application>Microsoft Office PowerPoint</Application>
  <PresentationFormat>Custom</PresentationFormat>
  <Paragraphs>106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Montserrat Light</vt:lpstr>
      <vt:lpstr>Inconsolata</vt:lpstr>
      <vt:lpstr>Montserrat Black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Shivankur Sharma</cp:lastModifiedBy>
  <cp:revision>10</cp:revision>
  <dcterms:created xsi:type="dcterms:W3CDTF">2025-12-29T08:24:36Z</dcterms:created>
  <dcterms:modified xsi:type="dcterms:W3CDTF">2025-12-30T13:00:55Z</dcterms:modified>
</cp:coreProperties>
</file>